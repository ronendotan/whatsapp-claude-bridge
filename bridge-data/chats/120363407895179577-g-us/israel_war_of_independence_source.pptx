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FC9E-F816-4111-E196-15E8FF6D8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E5C3E-FF4B-7CA1-4564-40B48812E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C24B3-6BE5-7E6B-54BC-258E742CF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3988-4179-4F05-AFD6-22C240A55499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39FB4-991D-E809-59EB-677622909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6D5A3-FCF6-0743-17E6-031990D9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1E20D-5AC7-4225-94B0-EABF3A04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54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8D2A-DFEF-BF49-AA64-D1941CC2F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8CCFC-970A-8093-4DA7-065BD7F27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B60E0-2B4D-A2AD-00EB-1A2FF9D5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3988-4179-4F05-AFD6-22C240A55499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441D6-3ECF-9625-BAE2-77FE567A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F430F-3106-3305-430B-8090EABD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1E20D-5AC7-4225-94B0-EABF3A04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52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F04ED-BD34-8AF2-460D-F6255AF7B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CE1BE-9783-BD91-7DCC-3243E4C43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974F3-DE47-5F83-05AF-0DDA44FC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3988-4179-4F05-AFD6-22C240A55499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5AC08-3777-1B8A-96B3-78CD6933E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3F384-FB27-2331-A5F4-08EFBE87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1E20D-5AC7-4225-94B0-EABF3A04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17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D8346-3491-7289-B0FA-07A23349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F2818-51CF-CBB4-58A6-938B7A482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5A82E-6D98-3CD8-A136-0F5347E99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CC260-3464-21F9-A041-CC9F263A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3988-4179-4F05-AFD6-22C240A55499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3330C-2259-99A9-4F06-1E29DE80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48E7A-205F-CE80-7C13-0F33B43A4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1E20D-5AC7-4225-94B0-EABF3A04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9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87E73-C65C-F3A5-02D6-90C5CD4F6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13E6E-0165-83F2-AC65-6C6169E01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2A778-66F0-E3DA-0635-F051F2F01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699B3-344B-1302-5B73-932ED30D3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71F629-6B12-AC72-54C7-3CBE7CA3C3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75B908-44C0-97CF-7A3A-EDC2A421D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3988-4179-4F05-AFD6-22C240A55499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A9C1B0-2ECA-344C-B806-815E617E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7D4B1F-3CA4-49CA-C432-FDC68FFA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1E20D-5AC7-4225-94B0-EABF3A04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70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DD6F-8E64-792D-7DE9-0DD812B27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83040E-0134-6F3C-1021-227E4710D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3988-4179-4F05-AFD6-22C240A55499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BD6AB-5CDE-1EDA-D9F2-AD69D0524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07D7E-5400-241F-8816-67A82B958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1E20D-5AC7-4225-94B0-EABF3A04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7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0559BF-2404-449A-9D2A-6AEA722AF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3988-4179-4F05-AFD6-22C240A55499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B636A-AF02-620C-BBDA-5B9A00BD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69474-765C-DC28-999F-2CAC677B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1E20D-5AC7-4225-94B0-EABF3A04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9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20D8-91CF-D2C0-D0D9-85881C273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38249-8D45-D76A-C4B5-1906E5466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18A53-05B4-3C6F-CB05-3B358D5D6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7C7B4-6547-DA8C-42AD-12832F8F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3988-4179-4F05-AFD6-22C240A55499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890FE-424E-849D-6875-64643ABF5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96AB6-6DC0-DEDC-AAF0-DEF9D885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1E20D-5AC7-4225-94B0-EABF3A04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68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DBB6-A490-2348-2488-2F3EA76ED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C6135-4793-8998-2A59-4FDED6647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E175A-816F-82A9-AD8A-6C5F00A7F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3CDBE-C5B4-2087-B90E-F62504B2F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3988-4179-4F05-AFD6-22C240A55499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2B06D-2623-49BD-BD38-161A86D22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2DE32-DC0D-E17C-0EC8-33046C25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1E20D-5AC7-4225-94B0-EABF3A04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9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F9E4-F46C-C44E-3F04-954D5BFB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27C68-7D15-5BB2-5EA6-646DBF628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46784-343C-D572-C3F6-C51E4375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3988-4179-4F05-AFD6-22C240A55499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E181C-C97D-4E3A-B95D-AE5678E8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86684-ADC7-44DE-52DC-CBA7E1BB5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1E20D-5AC7-4225-94B0-EABF3A04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65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FDDD8E-DD44-DBF2-E885-99D6A8439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E7457-BA00-C749-3DE0-D9BF3D591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B928-3232-88BC-AC2D-E644D6E0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3988-4179-4F05-AFD6-22C240A55499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F6AFF-D3D1-679F-BFC2-E1AE6BC7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301D1-A8BA-C092-ED63-FAEA37B7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1E20D-5AC7-4225-94B0-EABF3A04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1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A3D87-9FFF-B9FD-58DC-C62CDBE3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E153F-63A9-7576-D788-F8BD779E9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9C8C0-4F0E-872E-5742-BEAA62D53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23988-4179-4F05-AFD6-22C240A55499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4BE4F-611F-9745-2C25-ED2D7B27B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968EE-6C71-C481-944B-6A1AF1266E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1E20D-5AC7-4225-94B0-EABF3A04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6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6D0163-2E45-826D-E631-B3CDE5195FFA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018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10182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AECFC9-795B-356C-3547-B8B54FAA5AA9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19FF8A-AEA8-7196-C403-D2B863B5C605}"/>
              </a:ext>
            </a:extLst>
          </p:cNvPr>
          <p:cNvSpPr/>
          <p:nvPr/>
        </p:nvSpPr>
        <p:spPr>
          <a:xfrm>
            <a:off x="10737850" y="1009650"/>
            <a:ext cx="1568450" cy="6756400"/>
          </a:xfrm>
          <a:prstGeom prst="rect">
            <a:avLst/>
          </a:prstGeom>
          <a:solidFill>
            <a:srgbClr val="2E6F87">
              <a:alpha val="95000"/>
            </a:srgbClr>
          </a:solidFill>
          <a:ln>
            <a:solidFill>
              <a:srgbClr val="9ECA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90541-C67C-2EAA-104F-3FCBD9513586}"/>
              </a:ext>
            </a:extLst>
          </p:cNvPr>
          <p:cNvSpPr/>
          <p:nvPr/>
        </p:nvSpPr>
        <p:spPr>
          <a:xfrm>
            <a:off x="11316970" y="1190625"/>
            <a:ext cx="506730" cy="6153150"/>
          </a:xfrm>
          <a:prstGeom prst="rect">
            <a:avLst/>
          </a:prstGeom>
          <a:solidFill>
            <a:srgbClr val="D8C177">
              <a:alpha val="95000"/>
            </a:srgbClr>
          </a:solidFill>
          <a:ln>
            <a:solidFill>
              <a:srgbClr val="F2DE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E931DA-84B2-79F9-FA90-DF01DEB3A8EE}"/>
              </a:ext>
            </a:extLst>
          </p:cNvPr>
          <p:cNvSpPr/>
          <p:nvPr/>
        </p:nvSpPr>
        <p:spPr>
          <a:xfrm>
            <a:off x="11799570" y="2095500"/>
            <a:ext cx="579119" cy="2292350"/>
          </a:xfrm>
          <a:prstGeom prst="rect">
            <a:avLst/>
          </a:prstGeom>
          <a:solidFill>
            <a:srgbClr val="89A86B">
              <a:alpha val="95000"/>
            </a:srgbClr>
          </a:solidFill>
          <a:ln>
            <a:solidFill>
              <a:srgbClr val="C7D7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93F9B6-9CAB-1375-419A-B2C9EC2BD8A6}"/>
              </a:ext>
            </a:extLst>
          </p:cNvPr>
          <p:cNvSpPr/>
          <p:nvPr/>
        </p:nvSpPr>
        <p:spPr>
          <a:xfrm>
            <a:off x="11461750" y="4508500"/>
            <a:ext cx="458470" cy="2171700"/>
          </a:xfrm>
          <a:prstGeom prst="rect">
            <a:avLst/>
          </a:prstGeom>
          <a:solidFill>
            <a:srgbClr val="89A86B">
              <a:alpha val="95000"/>
            </a:srgbClr>
          </a:solidFill>
          <a:ln>
            <a:solidFill>
              <a:srgbClr val="C7D7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8A76B4-7C44-F1BA-C394-2115508D194C}"/>
              </a:ext>
            </a:extLst>
          </p:cNvPr>
          <p:cNvCxnSpPr/>
          <p:nvPr/>
        </p:nvCxnSpPr>
        <p:spPr>
          <a:xfrm>
            <a:off x="11763375" y="1190625"/>
            <a:ext cx="0" cy="6213475"/>
          </a:xfrm>
          <a:prstGeom prst="line">
            <a:avLst/>
          </a:prstGeom>
          <a:ln w="24130">
            <a:solidFill>
              <a:srgbClr val="F5E7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E31BBB3-89A2-24D8-7602-97054F82ECA5}"/>
              </a:ext>
            </a:extLst>
          </p:cNvPr>
          <p:cNvSpPr txBox="1"/>
          <p:nvPr/>
        </p:nvSpPr>
        <p:spPr>
          <a:xfrm>
            <a:off x="9579610" y="3905250"/>
            <a:ext cx="108585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BFD7E3"/>
                </a:solidFill>
                <a:latin typeface="Aptos" panose="020F0502020204030204" pitchFamily="34" charset="0"/>
              </a:rPr>
              <a:t>Mediterranean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C04F07-2C63-691C-76AA-DB7AE9F51957}"/>
              </a:ext>
            </a:extLst>
          </p:cNvPr>
          <p:cNvSpPr txBox="1"/>
          <p:nvPr/>
        </p:nvSpPr>
        <p:spPr>
          <a:xfrm>
            <a:off x="10979150" y="7404100"/>
            <a:ext cx="205105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E8EEF5"/>
                </a:solidFill>
                <a:latin typeface="Aptos" panose="020F0502020204030204" pitchFamily="34" charset="0"/>
              </a:rPr>
              <a:t>Mandate Palestine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45236-F329-86C6-BAB2-2A4D98984D1F}"/>
              </a:ext>
            </a:extLst>
          </p:cNvPr>
          <p:cNvSpPr txBox="1"/>
          <p:nvPr/>
        </p:nvSpPr>
        <p:spPr>
          <a:xfrm>
            <a:off x="889000" y="1587500"/>
            <a:ext cx="8382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Aptos" panose="020F0502020204030204" pitchFamily="34" charset="0"/>
              </a:rPr>
              <a:t>Israel War of Independence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53FDBC-1255-C5BC-0EAB-A1A806A2347C}"/>
              </a:ext>
            </a:extLst>
          </p:cNvPr>
          <p:cNvSpPr txBox="1"/>
          <p:nvPr/>
        </p:nvSpPr>
        <p:spPr>
          <a:xfrm>
            <a:off x="914400" y="2794000"/>
            <a:ext cx="8382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>
                <a:solidFill>
                  <a:srgbClr val="D6B45C"/>
                </a:solidFill>
                <a:latin typeface="Aptos" panose="020F0502020204030204" pitchFamily="34" charset="0"/>
              </a:rPr>
              <a:t>A 30-second historical overview, 1947-1949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470F7-DD81-C64E-AD38-1EB030DF4923}"/>
              </a:ext>
            </a:extLst>
          </p:cNvPr>
          <p:cNvSpPr txBox="1"/>
          <p:nvPr/>
        </p:nvSpPr>
        <p:spPr>
          <a:xfrm>
            <a:off x="914400" y="3746500"/>
            <a:ext cx="8255000" cy="8617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>
                <a:solidFill>
                  <a:srgbClr val="DCE6EF"/>
                </a:solidFill>
                <a:latin typeface="Aptos" panose="020F0502020204030204" pitchFamily="34" charset="0"/>
              </a:rPr>
              <a:t>From the UN Partition Plan to the 1949 armistice agreements.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98AFE8-ECD6-D38C-F5EF-8ABF89EC7B06}"/>
              </a:ext>
            </a:extLst>
          </p:cNvPr>
          <p:cNvCxnSpPr/>
          <p:nvPr/>
        </p:nvCxnSpPr>
        <p:spPr>
          <a:xfrm>
            <a:off x="3175000" y="7493000"/>
            <a:ext cx="9652000" cy="0"/>
          </a:xfrm>
          <a:prstGeom prst="line">
            <a:avLst/>
          </a:prstGeom>
          <a:ln w="63500">
            <a:solidFill>
              <a:srgbClr val="6E7F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4FB0513-DB30-1184-FFB9-E68CEE26C9F2}"/>
              </a:ext>
            </a:extLst>
          </p:cNvPr>
          <p:cNvSpPr/>
          <p:nvPr/>
        </p:nvSpPr>
        <p:spPr>
          <a:xfrm>
            <a:off x="3009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1533E7-7415-F184-81E3-4EE5436675BA}"/>
              </a:ext>
            </a:extLst>
          </p:cNvPr>
          <p:cNvSpPr txBox="1"/>
          <p:nvPr/>
        </p:nvSpPr>
        <p:spPr>
          <a:xfrm>
            <a:off x="2565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1947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4A73C0-EFB3-5A68-4EEE-E4F0EE905434}"/>
              </a:ext>
            </a:extLst>
          </p:cNvPr>
          <p:cNvSpPr/>
          <p:nvPr/>
        </p:nvSpPr>
        <p:spPr>
          <a:xfrm>
            <a:off x="6184900" y="7327900"/>
            <a:ext cx="330200" cy="330200"/>
          </a:xfrm>
          <a:prstGeom prst="ellipse">
            <a:avLst/>
          </a:prstGeom>
          <a:solidFill>
            <a:srgbClr val="3B4C61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88EC8E-19B9-5406-3098-83D58236F5E9}"/>
              </a:ext>
            </a:extLst>
          </p:cNvPr>
          <p:cNvSpPr txBox="1"/>
          <p:nvPr/>
        </p:nvSpPr>
        <p:spPr>
          <a:xfrm>
            <a:off x="5740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May 1948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6DF9D4A-76DE-4FC5-4EC4-AC5AF37ADCFD}"/>
              </a:ext>
            </a:extLst>
          </p:cNvPr>
          <p:cNvSpPr/>
          <p:nvPr/>
        </p:nvSpPr>
        <p:spPr>
          <a:xfrm>
            <a:off x="9486900" y="7327900"/>
            <a:ext cx="330200" cy="330200"/>
          </a:xfrm>
          <a:prstGeom prst="ellipse">
            <a:avLst/>
          </a:prstGeom>
          <a:solidFill>
            <a:srgbClr val="3B4C61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E84CB4-28A0-BA32-65CB-E59153582C6B}"/>
              </a:ext>
            </a:extLst>
          </p:cNvPr>
          <p:cNvSpPr txBox="1"/>
          <p:nvPr/>
        </p:nvSpPr>
        <p:spPr>
          <a:xfrm>
            <a:off x="9042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B719ADD-E29F-EEFF-4684-F6949D40D8F8}"/>
              </a:ext>
            </a:extLst>
          </p:cNvPr>
          <p:cNvSpPr/>
          <p:nvPr/>
        </p:nvSpPr>
        <p:spPr>
          <a:xfrm>
            <a:off x="12661900" y="7327900"/>
            <a:ext cx="330200" cy="330200"/>
          </a:xfrm>
          <a:prstGeom prst="ellipse">
            <a:avLst/>
          </a:prstGeom>
          <a:solidFill>
            <a:srgbClr val="3B4C61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51059C-49C6-9076-24D2-27839CF89363}"/>
              </a:ext>
            </a:extLst>
          </p:cNvPr>
          <p:cNvSpPr txBox="1"/>
          <p:nvPr/>
        </p:nvSpPr>
        <p:spPr>
          <a:xfrm>
            <a:off x="12217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48287E-18F2-4456-0773-EB0DD6871425}"/>
              </a:ext>
            </a:extLst>
          </p:cNvPr>
          <p:cNvSpPr txBox="1"/>
          <p:nvPr/>
        </p:nvSpPr>
        <p:spPr>
          <a:xfrm>
            <a:off x="762000" y="8255000"/>
            <a:ext cx="914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>
                <a:solidFill>
                  <a:srgbClr val="B8C7D9"/>
                </a:solidFill>
                <a:latin typeface="Aptos" panose="020F0502020204030204" pitchFamily="34" charset="0"/>
              </a:rPr>
              <a:t>Educational summary - dates and phases</a:t>
            </a:r>
          </a:p>
        </p:txBody>
      </p:sp>
    </p:spTree>
    <p:extLst>
      <p:ext uri="{BB962C8B-B14F-4D97-AF65-F5344CB8AC3E}">
        <p14:creationId xmlns:p14="http://schemas.microsoft.com/office/powerpoint/2010/main" val="3478691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454AA9-31F0-4C45-B806-C0B1DF58BB20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426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14263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9FFE7-60ED-8F73-9D53-E51FC2B09401}"/>
              </a:ext>
            </a:extLst>
          </p:cNvPr>
          <p:cNvSpPr txBox="1"/>
          <p:nvPr/>
        </p:nvSpPr>
        <p:spPr>
          <a:xfrm>
            <a:off x="889000" y="889000"/>
            <a:ext cx="7620000" cy="58477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800" b="1">
                <a:solidFill>
                  <a:srgbClr val="D6B45C"/>
                </a:solidFill>
                <a:latin typeface="Aptos" panose="020F0502020204030204" pitchFamily="34" charset="0"/>
              </a:rPr>
              <a:t>November 29, 1947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54C1D-E86F-2606-149B-F835291A3923}"/>
              </a:ext>
            </a:extLst>
          </p:cNvPr>
          <p:cNvSpPr txBox="1"/>
          <p:nvPr/>
        </p:nvSpPr>
        <p:spPr>
          <a:xfrm>
            <a:off x="889000" y="1714500"/>
            <a:ext cx="9144000" cy="133882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900">
                <a:solidFill>
                  <a:srgbClr val="FFFFFF"/>
                </a:solidFill>
                <a:latin typeface="Aptos" panose="020F0502020204030204" pitchFamily="34" charset="0"/>
              </a:rPr>
              <a:t>The UN votes to partition British Mandate Palestine into Jewish and Arab states, with Jerusalem under international administration.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1BB715-3428-40E5-1E1B-8E1D36764D07}"/>
              </a:ext>
            </a:extLst>
          </p:cNvPr>
          <p:cNvSpPr/>
          <p:nvPr/>
        </p:nvSpPr>
        <p:spPr>
          <a:xfrm>
            <a:off x="11541760" y="1120140"/>
            <a:ext cx="1353820" cy="5831840"/>
          </a:xfrm>
          <a:prstGeom prst="rect">
            <a:avLst/>
          </a:prstGeom>
          <a:solidFill>
            <a:srgbClr val="2E6F87">
              <a:alpha val="95000"/>
            </a:srgbClr>
          </a:solidFill>
          <a:ln>
            <a:solidFill>
              <a:srgbClr val="9ECA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C72961-3DC1-2E8F-1357-E0C7DA6F041D}"/>
              </a:ext>
            </a:extLst>
          </p:cNvPr>
          <p:cNvSpPr/>
          <p:nvPr/>
        </p:nvSpPr>
        <p:spPr>
          <a:xfrm>
            <a:off x="12041632" y="1276350"/>
            <a:ext cx="437388" cy="5311140"/>
          </a:xfrm>
          <a:prstGeom prst="rect">
            <a:avLst/>
          </a:prstGeom>
          <a:solidFill>
            <a:srgbClr val="D8C177">
              <a:alpha val="95000"/>
            </a:srgbClr>
          </a:solidFill>
          <a:ln>
            <a:solidFill>
              <a:srgbClr val="F2DE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C2AF1D-84B9-417A-2C88-5A5AD6D99503}"/>
              </a:ext>
            </a:extLst>
          </p:cNvPr>
          <p:cNvSpPr/>
          <p:nvPr/>
        </p:nvSpPr>
        <p:spPr>
          <a:xfrm>
            <a:off x="12458192" y="2057400"/>
            <a:ext cx="499872" cy="1978660"/>
          </a:xfrm>
          <a:prstGeom prst="rect">
            <a:avLst/>
          </a:prstGeom>
          <a:solidFill>
            <a:srgbClr val="89A86B">
              <a:alpha val="95000"/>
            </a:srgbClr>
          </a:solidFill>
          <a:ln>
            <a:solidFill>
              <a:srgbClr val="C7D7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82F36C-9161-D76D-066E-5031D64FEC7F}"/>
              </a:ext>
            </a:extLst>
          </p:cNvPr>
          <p:cNvSpPr/>
          <p:nvPr/>
        </p:nvSpPr>
        <p:spPr>
          <a:xfrm>
            <a:off x="12166600" y="4140200"/>
            <a:ext cx="395732" cy="1874520"/>
          </a:xfrm>
          <a:prstGeom prst="rect">
            <a:avLst/>
          </a:prstGeom>
          <a:solidFill>
            <a:srgbClr val="89A86B">
              <a:alpha val="95000"/>
            </a:srgbClr>
          </a:solidFill>
          <a:ln>
            <a:solidFill>
              <a:srgbClr val="C7D7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D9E3FE-082C-8AAA-930A-666A6EF5213A}"/>
              </a:ext>
            </a:extLst>
          </p:cNvPr>
          <p:cNvCxnSpPr/>
          <p:nvPr/>
        </p:nvCxnSpPr>
        <p:spPr>
          <a:xfrm>
            <a:off x="12426950" y="1276350"/>
            <a:ext cx="0" cy="5363210"/>
          </a:xfrm>
          <a:prstGeom prst="line">
            <a:avLst/>
          </a:prstGeom>
          <a:ln w="20828">
            <a:solidFill>
              <a:srgbClr val="F5E7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B75534F-17DA-1C4B-C15C-B376E67E6BC1}"/>
              </a:ext>
            </a:extLst>
          </p:cNvPr>
          <p:cNvSpPr txBox="1"/>
          <p:nvPr/>
        </p:nvSpPr>
        <p:spPr>
          <a:xfrm>
            <a:off x="10542016" y="3619500"/>
            <a:ext cx="93726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BFD7E3"/>
                </a:solidFill>
                <a:latin typeface="Aptos" panose="020F0502020204030204" pitchFamily="34" charset="0"/>
              </a:rPr>
              <a:t>Mediterranean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FF7566-4FFF-EC40-BAC7-86FF12025F34}"/>
              </a:ext>
            </a:extLst>
          </p:cNvPr>
          <p:cNvSpPr txBox="1"/>
          <p:nvPr/>
        </p:nvSpPr>
        <p:spPr>
          <a:xfrm>
            <a:off x="11750040" y="6639560"/>
            <a:ext cx="177038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E8EEF5"/>
                </a:solidFill>
                <a:latin typeface="Aptos" panose="020F0502020204030204" pitchFamily="34" charset="0"/>
              </a:rPr>
              <a:t>Mandate Palestine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E3A80B-6DF9-5ACD-4317-9229EA9B939F}"/>
              </a:ext>
            </a:extLst>
          </p:cNvPr>
          <p:cNvSpPr/>
          <p:nvPr/>
        </p:nvSpPr>
        <p:spPr>
          <a:xfrm>
            <a:off x="1168400" y="4191000"/>
            <a:ext cx="4572000" cy="1524000"/>
          </a:xfrm>
          <a:prstGeom prst="rect">
            <a:avLst/>
          </a:prstGeom>
          <a:solidFill>
            <a:srgbClr val="22364A">
              <a:alpha val="95000"/>
            </a:srgbClr>
          </a:solidFill>
          <a:ln>
            <a:solidFill>
              <a:srgbClr val="4261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350BA5-CBC4-9388-1C71-04BA107CDFA0}"/>
              </a:ext>
            </a:extLst>
          </p:cNvPr>
          <p:cNvSpPr txBox="1"/>
          <p:nvPr/>
        </p:nvSpPr>
        <p:spPr>
          <a:xfrm>
            <a:off x="1524000" y="4546600"/>
            <a:ext cx="393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E8EEF5"/>
                </a:solidFill>
                <a:latin typeface="Aptos" panose="020F0502020204030204" pitchFamily="34" charset="0"/>
              </a:rPr>
              <a:t>Jewish leaders accept the plan.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7E7B78-3DC0-17D8-C10A-BC21104F7D2E}"/>
              </a:ext>
            </a:extLst>
          </p:cNvPr>
          <p:cNvSpPr/>
          <p:nvPr/>
        </p:nvSpPr>
        <p:spPr>
          <a:xfrm>
            <a:off x="6223000" y="4191000"/>
            <a:ext cx="5334000" cy="1524000"/>
          </a:xfrm>
          <a:prstGeom prst="rect">
            <a:avLst/>
          </a:prstGeom>
          <a:solidFill>
            <a:srgbClr val="22364A">
              <a:alpha val="95000"/>
            </a:srgbClr>
          </a:solidFill>
          <a:ln>
            <a:solidFill>
              <a:srgbClr val="4261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CA29E4-ADA4-A384-AEA7-3791D5CEFF04}"/>
              </a:ext>
            </a:extLst>
          </p:cNvPr>
          <p:cNvSpPr txBox="1"/>
          <p:nvPr/>
        </p:nvSpPr>
        <p:spPr>
          <a:xfrm>
            <a:off x="6604000" y="4546600"/>
            <a:ext cx="4445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E8EEF5"/>
                </a:solidFill>
                <a:latin typeface="Aptos" panose="020F0502020204030204" pitchFamily="34" charset="0"/>
              </a:rPr>
              <a:t>Arab leaders reject it; civil war begins.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42FB49-DB75-1BA0-6371-0C4810A3DD7B}"/>
              </a:ext>
            </a:extLst>
          </p:cNvPr>
          <p:cNvCxnSpPr/>
          <p:nvPr/>
        </p:nvCxnSpPr>
        <p:spPr>
          <a:xfrm>
            <a:off x="3175000" y="7493000"/>
            <a:ext cx="9652000" cy="0"/>
          </a:xfrm>
          <a:prstGeom prst="line">
            <a:avLst/>
          </a:prstGeom>
          <a:ln w="63500">
            <a:solidFill>
              <a:srgbClr val="6E7F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C15852C-C60C-D5A7-75C0-7E3690B73D84}"/>
              </a:ext>
            </a:extLst>
          </p:cNvPr>
          <p:cNvSpPr/>
          <p:nvPr/>
        </p:nvSpPr>
        <p:spPr>
          <a:xfrm>
            <a:off x="3009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C29886-DDA6-B1E7-DA35-EBFD9D64BB23}"/>
              </a:ext>
            </a:extLst>
          </p:cNvPr>
          <p:cNvSpPr txBox="1"/>
          <p:nvPr/>
        </p:nvSpPr>
        <p:spPr>
          <a:xfrm>
            <a:off x="2565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CDA8175-BC41-F627-25A0-B2524532AE55}"/>
              </a:ext>
            </a:extLst>
          </p:cNvPr>
          <p:cNvSpPr/>
          <p:nvPr/>
        </p:nvSpPr>
        <p:spPr>
          <a:xfrm>
            <a:off x="6184900" y="7327900"/>
            <a:ext cx="330200" cy="330200"/>
          </a:xfrm>
          <a:prstGeom prst="ellipse">
            <a:avLst/>
          </a:prstGeom>
          <a:solidFill>
            <a:srgbClr val="3B4C61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A2D21A-2D28-7484-4D1B-CCE10A692685}"/>
              </a:ext>
            </a:extLst>
          </p:cNvPr>
          <p:cNvSpPr txBox="1"/>
          <p:nvPr/>
        </p:nvSpPr>
        <p:spPr>
          <a:xfrm>
            <a:off x="5740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May 1948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E7D245-C10D-6B21-6954-170725736418}"/>
              </a:ext>
            </a:extLst>
          </p:cNvPr>
          <p:cNvSpPr/>
          <p:nvPr/>
        </p:nvSpPr>
        <p:spPr>
          <a:xfrm>
            <a:off x="9486900" y="7327900"/>
            <a:ext cx="330200" cy="330200"/>
          </a:xfrm>
          <a:prstGeom prst="ellipse">
            <a:avLst/>
          </a:prstGeom>
          <a:solidFill>
            <a:srgbClr val="3B4C61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926B6D-9F32-DE0B-5B00-22FB911A7C52}"/>
              </a:ext>
            </a:extLst>
          </p:cNvPr>
          <p:cNvSpPr txBox="1"/>
          <p:nvPr/>
        </p:nvSpPr>
        <p:spPr>
          <a:xfrm>
            <a:off x="9042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1948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FE5CCC-3FE4-7091-4097-608CB8E9727A}"/>
              </a:ext>
            </a:extLst>
          </p:cNvPr>
          <p:cNvSpPr/>
          <p:nvPr/>
        </p:nvSpPr>
        <p:spPr>
          <a:xfrm>
            <a:off x="12661900" y="7327900"/>
            <a:ext cx="330200" cy="330200"/>
          </a:xfrm>
          <a:prstGeom prst="ellipse">
            <a:avLst/>
          </a:prstGeom>
          <a:solidFill>
            <a:srgbClr val="3B4C61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CCEC77-2B9C-1980-6526-2638EB3696DC}"/>
              </a:ext>
            </a:extLst>
          </p:cNvPr>
          <p:cNvSpPr txBox="1"/>
          <p:nvPr/>
        </p:nvSpPr>
        <p:spPr>
          <a:xfrm>
            <a:off x="12217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96F93C-CE18-8DAE-4125-3E0BF80A6912}"/>
              </a:ext>
            </a:extLst>
          </p:cNvPr>
          <p:cNvSpPr txBox="1"/>
          <p:nvPr/>
        </p:nvSpPr>
        <p:spPr>
          <a:xfrm>
            <a:off x="762000" y="8255000"/>
            <a:ext cx="914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>
                <a:solidFill>
                  <a:srgbClr val="B8C7D9"/>
                </a:solidFill>
                <a:latin typeface="Aptos" panose="020F0502020204030204" pitchFamily="34" charset="0"/>
              </a:rPr>
              <a:t>Phase 1: intercommunal fighting under the British Mandate</a:t>
            </a:r>
          </a:p>
        </p:txBody>
      </p:sp>
    </p:spTree>
    <p:extLst>
      <p:ext uri="{BB962C8B-B14F-4D97-AF65-F5344CB8AC3E}">
        <p14:creationId xmlns:p14="http://schemas.microsoft.com/office/powerpoint/2010/main" val="1902669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83300A-6250-F93F-E7C4-36156E9FAE1A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722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17223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AEF68-9A5F-4AA2-2983-5602D4A63412}"/>
              </a:ext>
            </a:extLst>
          </p:cNvPr>
          <p:cNvSpPr txBox="1"/>
          <p:nvPr/>
        </p:nvSpPr>
        <p:spPr>
          <a:xfrm>
            <a:off x="889000" y="889000"/>
            <a:ext cx="7620000" cy="58477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800" b="1">
                <a:solidFill>
                  <a:srgbClr val="D6B45C"/>
                </a:solidFill>
                <a:latin typeface="Aptos" panose="020F0502020204030204" pitchFamily="34" charset="0"/>
              </a:rPr>
              <a:t>May 14-15, 1948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D9C476-183D-6290-BFC8-9E2C10EFB261}"/>
              </a:ext>
            </a:extLst>
          </p:cNvPr>
          <p:cNvSpPr txBox="1"/>
          <p:nvPr/>
        </p:nvSpPr>
        <p:spPr>
          <a:xfrm>
            <a:off x="889000" y="1752600"/>
            <a:ext cx="9652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000">
                <a:solidFill>
                  <a:srgbClr val="FFFFFF"/>
                </a:solidFill>
                <a:latin typeface="Aptos" panose="020F0502020204030204" pitchFamily="34" charset="0"/>
              </a:rPr>
              <a:t>Israel declares independence as the British Mandate ends. Armies from neighboring Arab states enter the war.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52DBA1-0683-65FA-CB82-EE6852D7EF8F}"/>
              </a:ext>
            </a:extLst>
          </p:cNvPr>
          <p:cNvCxnSpPr/>
          <p:nvPr/>
        </p:nvCxnSpPr>
        <p:spPr>
          <a:xfrm flipH="1">
            <a:off x="9652000" y="1905000"/>
            <a:ext cx="2032000" cy="1397000"/>
          </a:xfrm>
          <a:prstGeom prst="line">
            <a:avLst/>
          </a:prstGeom>
          <a:ln w="101600">
            <a:solidFill>
              <a:srgbClr val="E064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63AC9C-72D4-D3E0-62FC-F456E1A89186}"/>
              </a:ext>
            </a:extLst>
          </p:cNvPr>
          <p:cNvCxnSpPr/>
          <p:nvPr/>
        </p:nvCxnSpPr>
        <p:spPr>
          <a:xfrm flipH="1">
            <a:off x="10033000" y="3556000"/>
            <a:ext cx="2794000" cy="444500"/>
          </a:xfrm>
          <a:prstGeom prst="line">
            <a:avLst/>
          </a:prstGeom>
          <a:ln w="101600">
            <a:solidFill>
              <a:srgbClr val="E064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8B39CD-DC07-A8B6-8138-2EE77826E02B}"/>
              </a:ext>
            </a:extLst>
          </p:cNvPr>
          <p:cNvCxnSpPr/>
          <p:nvPr/>
        </p:nvCxnSpPr>
        <p:spPr>
          <a:xfrm flipH="1" flipV="1">
            <a:off x="10033000" y="4699000"/>
            <a:ext cx="1714500" cy="1333500"/>
          </a:xfrm>
          <a:prstGeom prst="line">
            <a:avLst/>
          </a:prstGeom>
          <a:ln w="101600">
            <a:solidFill>
              <a:srgbClr val="E064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C1C9BBF7-B8C7-50CB-EAE3-9DB03EC215D7}"/>
              </a:ext>
            </a:extLst>
          </p:cNvPr>
          <p:cNvSpPr/>
          <p:nvPr/>
        </p:nvSpPr>
        <p:spPr>
          <a:xfrm>
            <a:off x="9398000" y="3238500"/>
            <a:ext cx="1206500" cy="1206500"/>
          </a:xfrm>
          <a:prstGeom prst="ellipse">
            <a:avLst/>
          </a:prstGeom>
          <a:solidFill>
            <a:srgbClr val="D6B45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CB0DC7-72BB-BD5E-9D49-A9D41EAE7ECD}"/>
              </a:ext>
            </a:extLst>
          </p:cNvPr>
          <p:cNvSpPr txBox="1"/>
          <p:nvPr/>
        </p:nvSpPr>
        <p:spPr>
          <a:xfrm>
            <a:off x="9448800" y="3708400"/>
            <a:ext cx="1143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172230"/>
                </a:solidFill>
                <a:latin typeface="Aptos" panose="020F0502020204030204" pitchFamily="34" charset="0"/>
              </a:rPr>
              <a:t>New state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3BA8F8-0D94-E245-2013-879F4F219DEF}"/>
              </a:ext>
            </a:extLst>
          </p:cNvPr>
          <p:cNvSpPr/>
          <p:nvPr/>
        </p:nvSpPr>
        <p:spPr>
          <a:xfrm>
            <a:off x="1193800" y="4127500"/>
            <a:ext cx="7366000" cy="1524000"/>
          </a:xfrm>
          <a:prstGeom prst="rect">
            <a:avLst/>
          </a:prstGeom>
          <a:solidFill>
            <a:srgbClr val="26394D">
              <a:alpha val="98000"/>
            </a:srgbClr>
          </a:solidFill>
          <a:ln>
            <a:solidFill>
              <a:srgbClr val="4967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C9C6B-C878-9303-4073-03488BD12BC6}"/>
              </a:ext>
            </a:extLst>
          </p:cNvPr>
          <p:cNvSpPr txBox="1"/>
          <p:nvPr/>
        </p:nvSpPr>
        <p:spPr>
          <a:xfrm>
            <a:off x="1587500" y="4572000"/>
            <a:ext cx="6604000" cy="8309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E8EEF5"/>
                </a:solidFill>
                <a:latin typeface="Aptos" panose="020F0502020204030204" pitchFamily="34" charset="0"/>
              </a:rPr>
              <a:t>The conflict shifts from civil war to interstate war.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E04E92-9076-D385-A8F8-3698130D1AFF}"/>
              </a:ext>
            </a:extLst>
          </p:cNvPr>
          <p:cNvCxnSpPr/>
          <p:nvPr/>
        </p:nvCxnSpPr>
        <p:spPr>
          <a:xfrm>
            <a:off x="3175000" y="7493000"/>
            <a:ext cx="9652000" cy="0"/>
          </a:xfrm>
          <a:prstGeom prst="line">
            <a:avLst/>
          </a:prstGeom>
          <a:ln w="63500">
            <a:solidFill>
              <a:srgbClr val="6E7F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7805743-0A61-2C67-B523-EEF76E44C743}"/>
              </a:ext>
            </a:extLst>
          </p:cNvPr>
          <p:cNvSpPr/>
          <p:nvPr/>
        </p:nvSpPr>
        <p:spPr>
          <a:xfrm>
            <a:off x="3009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81874C-497E-032A-8A51-5F1343DA5DDC}"/>
              </a:ext>
            </a:extLst>
          </p:cNvPr>
          <p:cNvSpPr txBox="1"/>
          <p:nvPr/>
        </p:nvSpPr>
        <p:spPr>
          <a:xfrm>
            <a:off x="2565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D310BB3-FA4E-BBCC-ED64-7454AF17E4EE}"/>
              </a:ext>
            </a:extLst>
          </p:cNvPr>
          <p:cNvSpPr/>
          <p:nvPr/>
        </p:nvSpPr>
        <p:spPr>
          <a:xfrm>
            <a:off x="6184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EA784E-77C6-DEB9-1A6B-0247D45C6BD5}"/>
              </a:ext>
            </a:extLst>
          </p:cNvPr>
          <p:cNvSpPr txBox="1"/>
          <p:nvPr/>
        </p:nvSpPr>
        <p:spPr>
          <a:xfrm>
            <a:off x="5740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May 1948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D6EFA39-C249-0FA7-170C-B4DCE45E242C}"/>
              </a:ext>
            </a:extLst>
          </p:cNvPr>
          <p:cNvSpPr/>
          <p:nvPr/>
        </p:nvSpPr>
        <p:spPr>
          <a:xfrm>
            <a:off x="9486900" y="7327900"/>
            <a:ext cx="330200" cy="330200"/>
          </a:xfrm>
          <a:prstGeom prst="ellipse">
            <a:avLst/>
          </a:prstGeom>
          <a:solidFill>
            <a:srgbClr val="3B4C61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AC44DD-6C28-90A6-9A3C-CE605B8165DF}"/>
              </a:ext>
            </a:extLst>
          </p:cNvPr>
          <p:cNvSpPr txBox="1"/>
          <p:nvPr/>
        </p:nvSpPr>
        <p:spPr>
          <a:xfrm>
            <a:off x="9042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1948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70EE996-A109-5EAA-3481-0BBAA94D7740}"/>
              </a:ext>
            </a:extLst>
          </p:cNvPr>
          <p:cNvSpPr/>
          <p:nvPr/>
        </p:nvSpPr>
        <p:spPr>
          <a:xfrm>
            <a:off x="12661900" y="7327900"/>
            <a:ext cx="330200" cy="330200"/>
          </a:xfrm>
          <a:prstGeom prst="ellipse">
            <a:avLst/>
          </a:prstGeom>
          <a:solidFill>
            <a:srgbClr val="3B4C61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5BCC8D-D395-847B-90ED-F9E9027950AE}"/>
              </a:ext>
            </a:extLst>
          </p:cNvPr>
          <p:cNvSpPr txBox="1"/>
          <p:nvPr/>
        </p:nvSpPr>
        <p:spPr>
          <a:xfrm>
            <a:off x="12217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EA79CD-4141-F65F-13F7-D7409ED356C1}"/>
              </a:ext>
            </a:extLst>
          </p:cNvPr>
          <p:cNvSpPr txBox="1"/>
          <p:nvPr/>
        </p:nvSpPr>
        <p:spPr>
          <a:xfrm>
            <a:off x="762000" y="8255000"/>
            <a:ext cx="914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>
                <a:solidFill>
                  <a:srgbClr val="B8C7D9"/>
                </a:solidFill>
                <a:latin typeface="Aptos" panose="020F0502020204030204" pitchFamily="34" charset="0"/>
              </a:rPr>
              <a:t>Phase 2: invasion and survival</a:t>
            </a:r>
          </a:p>
        </p:txBody>
      </p:sp>
    </p:spTree>
    <p:extLst>
      <p:ext uri="{BB962C8B-B14F-4D97-AF65-F5344CB8AC3E}">
        <p14:creationId xmlns:p14="http://schemas.microsoft.com/office/powerpoint/2010/main" val="428254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EE5A63-E4D1-F974-7E5D-6B8FE7D3A9B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01F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101F2D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F1065-1787-A862-1051-8E949B44E50E}"/>
              </a:ext>
            </a:extLst>
          </p:cNvPr>
          <p:cNvSpPr txBox="1"/>
          <p:nvPr/>
        </p:nvSpPr>
        <p:spPr>
          <a:xfrm>
            <a:off x="889000" y="889000"/>
            <a:ext cx="8636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900" b="1">
                <a:solidFill>
                  <a:srgbClr val="D6B45C"/>
                </a:solidFill>
                <a:latin typeface="Aptos" panose="020F0502020204030204" pitchFamily="34" charset="0"/>
              </a:rPr>
              <a:t>1948: Turning Points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813ADF-23DC-0579-1262-AEC71D574705}"/>
              </a:ext>
            </a:extLst>
          </p:cNvPr>
          <p:cNvSpPr txBox="1"/>
          <p:nvPr/>
        </p:nvSpPr>
        <p:spPr>
          <a:xfrm>
            <a:off x="889000" y="1752600"/>
            <a:ext cx="10160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000">
                <a:solidFill>
                  <a:srgbClr val="FFFFFF"/>
                </a:solidFill>
                <a:latin typeface="Aptos" panose="020F0502020204030204" pitchFamily="34" charset="0"/>
              </a:rPr>
              <a:t>Jerusalem is besieged, supply routes become decisive, and the war moves through ceasefires and renewed offensives.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9CA8CF-5452-2F23-C4B6-43DDC6DEC939}"/>
              </a:ext>
            </a:extLst>
          </p:cNvPr>
          <p:cNvCxnSpPr/>
          <p:nvPr/>
        </p:nvCxnSpPr>
        <p:spPr>
          <a:xfrm>
            <a:off x="2667000" y="4953000"/>
            <a:ext cx="9715500" cy="0"/>
          </a:xfrm>
          <a:prstGeom prst="line">
            <a:avLst/>
          </a:prstGeom>
          <a:ln w="127000">
            <a:solidFill>
              <a:srgbClr val="6E7F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7FDDC5F-E581-430D-4D2B-8C66DF7D3191}"/>
              </a:ext>
            </a:extLst>
          </p:cNvPr>
          <p:cNvSpPr/>
          <p:nvPr/>
        </p:nvSpPr>
        <p:spPr>
          <a:xfrm>
            <a:off x="2692400" y="4724400"/>
            <a:ext cx="457200" cy="457200"/>
          </a:xfrm>
          <a:prstGeom prst="ellipse">
            <a:avLst/>
          </a:prstGeom>
          <a:solidFill>
            <a:srgbClr val="D6B45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7EBF00-1283-B768-80D5-16C65D47B5FF}"/>
              </a:ext>
            </a:extLst>
          </p:cNvPr>
          <p:cNvSpPr/>
          <p:nvPr/>
        </p:nvSpPr>
        <p:spPr>
          <a:xfrm>
            <a:off x="5105400" y="4724400"/>
            <a:ext cx="457200" cy="457200"/>
          </a:xfrm>
          <a:prstGeom prst="ellipse">
            <a:avLst/>
          </a:prstGeom>
          <a:solidFill>
            <a:srgbClr val="D6B45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427F404-2CC1-2BB7-C385-78FC0F5A4EB3}"/>
              </a:ext>
            </a:extLst>
          </p:cNvPr>
          <p:cNvSpPr/>
          <p:nvPr/>
        </p:nvSpPr>
        <p:spPr>
          <a:xfrm>
            <a:off x="7518400" y="4724400"/>
            <a:ext cx="457200" cy="457200"/>
          </a:xfrm>
          <a:prstGeom prst="ellipse">
            <a:avLst/>
          </a:prstGeom>
          <a:solidFill>
            <a:srgbClr val="D6B45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2853F5-6C14-0B30-9EC9-F33E7714217F}"/>
              </a:ext>
            </a:extLst>
          </p:cNvPr>
          <p:cNvSpPr/>
          <p:nvPr/>
        </p:nvSpPr>
        <p:spPr>
          <a:xfrm>
            <a:off x="9931400" y="4724400"/>
            <a:ext cx="457200" cy="457200"/>
          </a:xfrm>
          <a:prstGeom prst="ellipse">
            <a:avLst/>
          </a:prstGeom>
          <a:solidFill>
            <a:srgbClr val="D6B45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7236600-B844-1C6B-9B11-BA00499DE68D}"/>
              </a:ext>
            </a:extLst>
          </p:cNvPr>
          <p:cNvSpPr/>
          <p:nvPr/>
        </p:nvSpPr>
        <p:spPr>
          <a:xfrm>
            <a:off x="11963400" y="4724400"/>
            <a:ext cx="457200" cy="457200"/>
          </a:xfrm>
          <a:prstGeom prst="ellipse">
            <a:avLst/>
          </a:prstGeom>
          <a:solidFill>
            <a:srgbClr val="D6B45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831A87-AE0C-2559-2980-C5F9D50D21A2}"/>
              </a:ext>
            </a:extLst>
          </p:cNvPr>
          <p:cNvSpPr txBox="1"/>
          <p:nvPr/>
        </p:nvSpPr>
        <p:spPr>
          <a:xfrm>
            <a:off x="2222500" y="5397500"/>
            <a:ext cx="1651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100" b="1">
                <a:solidFill>
                  <a:srgbClr val="E8EEF5"/>
                </a:solidFill>
                <a:latin typeface="Aptos" panose="020F0502020204030204" pitchFamily="34" charset="0"/>
              </a:rPr>
              <a:t>Jerusalem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74CA98-BFBB-84E9-3D2B-9672E6D2F5C6}"/>
              </a:ext>
            </a:extLst>
          </p:cNvPr>
          <p:cNvSpPr txBox="1"/>
          <p:nvPr/>
        </p:nvSpPr>
        <p:spPr>
          <a:xfrm>
            <a:off x="4826000" y="5397500"/>
            <a:ext cx="1270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100" b="1">
                <a:solidFill>
                  <a:srgbClr val="E8EEF5"/>
                </a:solidFill>
                <a:latin typeface="Aptos" panose="020F0502020204030204" pitchFamily="34" charset="0"/>
              </a:rPr>
              <a:t>Roads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CB67DF-EEB3-DAF7-1354-1D20A842F57E}"/>
              </a:ext>
            </a:extLst>
          </p:cNvPr>
          <p:cNvSpPr txBox="1"/>
          <p:nvPr/>
        </p:nvSpPr>
        <p:spPr>
          <a:xfrm>
            <a:off x="7175500" y="5397500"/>
            <a:ext cx="1270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100" b="1">
                <a:solidFill>
                  <a:srgbClr val="E8EEF5"/>
                </a:solidFill>
                <a:latin typeface="Aptos" panose="020F0502020204030204" pitchFamily="34" charset="0"/>
              </a:rPr>
              <a:t>Truces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8CEEC9-9F82-C195-044D-F5AD83A92B0F}"/>
              </a:ext>
            </a:extLst>
          </p:cNvPr>
          <p:cNvSpPr txBox="1"/>
          <p:nvPr/>
        </p:nvSpPr>
        <p:spPr>
          <a:xfrm>
            <a:off x="9461500" y="5397500"/>
            <a:ext cx="1778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100" b="1">
                <a:solidFill>
                  <a:srgbClr val="E8EEF5"/>
                </a:solidFill>
                <a:latin typeface="Aptos" panose="020F0502020204030204" pitchFamily="34" charset="0"/>
              </a:rPr>
              <a:t>Offensives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0ADF4C-6589-CD74-8A77-FF864A9E4C41}"/>
              </a:ext>
            </a:extLst>
          </p:cNvPr>
          <p:cNvSpPr txBox="1"/>
          <p:nvPr/>
        </p:nvSpPr>
        <p:spPr>
          <a:xfrm>
            <a:off x="11684000" y="5397500"/>
            <a:ext cx="1397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100" b="1">
                <a:solidFill>
                  <a:srgbClr val="E8EEF5"/>
                </a:solidFill>
                <a:latin typeface="Aptos" panose="020F0502020204030204" pitchFamily="34" charset="0"/>
              </a:rPr>
              <a:t>Control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5C15AF7-FBCF-C32D-2D0F-B0E443ADEE2B}"/>
              </a:ext>
            </a:extLst>
          </p:cNvPr>
          <p:cNvCxnSpPr/>
          <p:nvPr/>
        </p:nvCxnSpPr>
        <p:spPr>
          <a:xfrm>
            <a:off x="3175000" y="7493000"/>
            <a:ext cx="9652000" cy="0"/>
          </a:xfrm>
          <a:prstGeom prst="line">
            <a:avLst/>
          </a:prstGeom>
          <a:ln w="63500">
            <a:solidFill>
              <a:srgbClr val="6E7F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46443A7-E146-5C5F-AD86-74EE7AC5C66C}"/>
              </a:ext>
            </a:extLst>
          </p:cNvPr>
          <p:cNvSpPr/>
          <p:nvPr/>
        </p:nvSpPr>
        <p:spPr>
          <a:xfrm>
            <a:off x="3009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D01FAB-CD9B-FC52-7978-E945EE2B0EC4}"/>
              </a:ext>
            </a:extLst>
          </p:cNvPr>
          <p:cNvSpPr txBox="1"/>
          <p:nvPr/>
        </p:nvSpPr>
        <p:spPr>
          <a:xfrm>
            <a:off x="2565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642503-39E4-F423-7560-A97CFBC639FA}"/>
              </a:ext>
            </a:extLst>
          </p:cNvPr>
          <p:cNvSpPr/>
          <p:nvPr/>
        </p:nvSpPr>
        <p:spPr>
          <a:xfrm>
            <a:off x="6184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A34FEA-2A43-1B7A-EFBC-59EEF7DF8731}"/>
              </a:ext>
            </a:extLst>
          </p:cNvPr>
          <p:cNvSpPr txBox="1"/>
          <p:nvPr/>
        </p:nvSpPr>
        <p:spPr>
          <a:xfrm>
            <a:off x="5740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May 1948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4C0825-C8D6-D045-DC33-B35A1EA1B3EE}"/>
              </a:ext>
            </a:extLst>
          </p:cNvPr>
          <p:cNvSpPr/>
          <p:nvPr/>
        </p:nvSpPr>
        <p:spPr>
          <a:xfrm>
            <a:off x="9486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8C9503-3D27-050C-9335-BF5DC6131782}"/>
              </a:ext>
            </a:extLst>
          </p:cNvPr>
          <p:cNvSpPr txBox="1"/>
          <p:nvPr/>
        </p:nvSpPr>
        <p:spPr>
          <a:xfrm>
            <a:off x="9042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1948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9CBC368-2456-4E08-047A-76A2E3C60A77}"/>
              </a:ext>
            </a:extLst>
          </p:cNvPr>
          <p:cNvSpPr/>
          <p:nvPr/>
        </p:nvSpPr>
        <p:spPr>
          <a:xfrm>
            <a:off x="12661900" y="7327900"/>
            <a:ext cx="330200" cy="330200"/>
          </a:xfrm>
          <a:prstGeom prst="ellipse">
            <a:avLst/>
          </a:prstGeom>
          <a:solidFill>
            <a:srgbClr val="3B4C61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9C8C17-525B-C0C1-E950-857FDD42817A}"/>
              </a:ext>
            </a:extLst>
          </p:cNvPr>
          <p:cNvSpPr txBox="1"/>
          <p:nvPr/>
        </p:nvSpPr>
        <p:spPr>
          <a:xfrm>
            <a:off x="12217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5968F2-8CFD-47D1-E4A2-3C1F212F65F7}"/>
              </a:ext>
            </a:extLst>
          </p:cNvPr>
          <p:cNvSpPr txBox="1"/>
          <p:nvPr/>
        </p:nvSpPr>
        <p:spPr>
          <a:xfrm>
            <a:off x="762000" y="8255000"/>
            <a:ext cx="914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>
                <a:solidFill>
                  <a:srgbClr val="B8C7D9"/>
                </a:solidFill>
                <a:latin typeface="Aptos" panose="020F0502020204030204" pitchFamily="34" charset="0"/>
              </a:rPr>
              <a:t>Military and diplomatic pressure shape the outcome</a:t>
            </a:r>
          </a:p>
        </p:txBody>
      </p:sp>
    </p:spTree>
    <p:extLst>
      <p:ext uri="{BB962C8B-B14F-4D97-AF65-F5344CB8AC3E}">
        <p14:creationId xmlns:p14="http://schemas.microsoft.com/office/powerpoint/2010/main" val="308815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0B09DA-E741-519A-8232-4F369EE99B83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823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18233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1BFBF-404E-0F19-FCD4-B9697DC52391}"/>
              </a:ext>
            </a:extLst>
          </p:cNvPr>
          <p:cNvSpPr txBox="1"/>
          <p:nvPr/>
        </p:nvSpPr>
        <p:spPr>
          <a:xfrm>
            <a:off x="889000" y="8890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900" b="1">
                <a:solidFill>
                  <a:srgbClr val="D6B45C"/>
                </a:solidFill>
                <a:latin typeface="Aptos" panose="020F0502020204030204" pitchFamily="34" charset="0"/>
              </a:rPr>
              <a:t>1949 Armistice Agreements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51D1C-98F8-22F7-253D-8B0EFF437B1C}"/>
              </a:ext>
            </a:extLst>
          </p:cNvPr>
          <p:cNvSpPr txBox="1"/>
          <p:nvPr/>
        </p:nvSpPr>
        <p:spPr>
          <a:xfrm>
            <a:off x="889000" y="1752600"/>
            <a:ext cx="10414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000">
                <a:solidFill>
                  <a:srgbClr val="FFFFFF"/>
                </a:solidFill>
                <a:latin typeface="Aptos" panose="020F0502020204030204" pitchFamily="34" charset="0"/>
              </a:rPr>
              <a:t>Israel signs armistices with Egypt, Lebanon, Jordan, and Syria. Fighting stops, but no final peace settlement is reached.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21C3BB-003D-BA0D-6EF6-3FE310BEAB9B}"/>
              </a:ext>
            </a:extLst>
          </p:cNvPr>
          <p:cNvSpPr/>
          <p:nvPr/>
        </p:nvSpPr>
        <p:spPr>
          <a:xfrm>
            <a:off x="1524000" y="4191000"/>
            <a:ext cx="2921000" cy="1397000"/>
          </a:xfrm>
          <a:prstGeom prst="rect">
            <a:avLst/>
          </a:prstGeom>
          <a:solidFill>
            <a:srgbClr val="244560"/>
          </a:solidFill>
          <a:ln>
            <a:solidFill>
              <a:srgbClr val="77A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3033E8-A0A7-3756-FB96-B18939E66231}"/>
              </a:ext>
            </a:extLst>
          </p:cNvPr>
          <p:cNvSpPr txBox="1"/>
          <p:nvPr/>
        </p:nvSpPr>
        <p:spPr>
          <a:xfrm>
            <a:off x="2260600" y="4635500"/>
            <a:ext cx="152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F0502020204030204" pitchFamily="34" charset="0"/>
              </a:rPr>
              <a:t>Egypt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7CD95B-B1E9-4E19-D25D-5B9B1D177DD1}"/>
              </a:ext>
            </a:extLst>
          </p:cNvPr>
          <p:cNvSpPr/>
          <p:nvPr/>
        </p:nvSpPr>
        <p:spPr>
          <a:xfrm>
            <a:off x="4953000" y="4191000"/>
            <a:ext cx="2921000" cy="1397000"/>
          </a:xfrm>
          <a:prstGeom prst="rect">
            <a:avLst/>
          </a:prstGeom>
          <a:solidFill>
            <a:srgbClr val="244560"/>
          </a:solidFill>
          <a:ln>
            <a:solidFill>
              <a:srgbClr val="77A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D9AC6-4A29-D710-0908-D1DAC97E3CB1}"/>
              </a:ext>
            </a:extLst>
          </p:cNvPr>
          <p:cNvSpPr txBox="1"/>
          <p:nvPr/>
        </p:nvSpPr>
        <p:spPr>
          <a:xfrm>
            <a:off x="5613400" y="4635500"/>
            <a:ext cx="177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F0502020204030204" pitchFamily="34" charset="0"/>
              </a:rPr>
              <a:t>Lebanon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962991-936B-17FD-9C7C-EDD4E7BA75E0}"/>
              </a:ext>
            </a:extLst>
          </p:cNvPr>
          <p:cNvSpPr/>
          <p:nvPr/>
        </p:nvSpPr>
        <p:spPr>
          <a:xfrm>
            <a:off x="8382000" y="4191000"/>
            <a:ext cx="2921000" cy="1397000"/>
          </a:xfrm>
          <a:prstGeom prst="rect">
            <a:avLst/>
          </a:prstGeom>
          <a:solidFill>
            <a:srgbClr val="244560"/>
          </a:solidFill>
          <a:ln>
            <a:solidFill>
              <a:srgbClr val="77A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2B9E1-AAC7-96F1-9182-75C3F0DB0651}"/>
              </a:ext>
            </a:extLst>
          </p:cNvPr>
          <p:cNvSpPr txBox="1"/>
          <p:nvPr/>
        </p:nvSpPr>
        <p:spPr>
          <a:xfrm>
            <a:off x="9118600" y="4635500"/>
            <a:ext cx="152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F0502020204030204" pitchFamily="34" charset="0"/>
              </a:rPr>
              <a:t>Jordan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0C85B3-5185-BD0A-635F-6135A7AB7F80}"/>
              </a:ext>
            </a:extLst>
          </p:cNvPr>
          <p:cNvSpPr/>
          <p:nvPr/>
        </p:nvSpPr>
        <p:spPr>
          <a:xfrm>
            <a:off x="11811000" y="4191000"/>
            <a:ext cx="2921000" cy="1397000"/>
          </a:xfrm>
          <a:prstGeom prst="rect">
            <a:avLst/>
          </a:prstGeom>
          <a:solidFill>
            <a:srgbClr val="244560"/>
          </a:solidFill>
          <a:ln>
            <a:solidFill>
              <a:srgbClr val="77A6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4C8858-0A24-83ED-EEA2-3B1F026A5FE0}"/>
              </a:ext>
            </a:extLst>
          </p:cNvPr>
          <p:cNvSpPr txBox="1"/>
          <p:nvPr/>
        </p:nvSpPr>
        <p:spPr>
          <a:xfrm>
            <a:off x="12636500" y="4635500"/>
            <a:ext cx="127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F0502020204030204" pitchFamily="34" charset="0"/>
              </a:rPr>
              <a:t>Syria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6A37ED-644C-27D3-2F8C-A6136B71CAF7}"/>
              </a:ext>
            </a:extLst>
          </p:cNvPr>
          <p:cNvCxnSpPr/>
          <p:nvPr/>
        </p:nvCxnSpPr>
        <p:spPr>
          <a:xfrm>
            <a:off x="3175000" y="7493000"/>
            <a:ext cx="9652000" cy="0"/>
          </a:xfrm>
          <a:prstGeom prst="line">
            <a:avLst/>
          </a:prstGeom>
          <a:ln w="63500">
            <a:solidFill>
              <a:srgbClr val="6E7F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66986A70-907B-A859-4735-EF773358A05F}"/>
              </a:ext>
            </a:extLst>
          </p:cNvPr>
          <p:cNvSpPr/>
          <p:nvPr/>
        </p:nvSpPr>
        <p:spPr>
          <a:xfrm>
            <a:off x="3009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08DFDD-010E-FE76-0C9F-8A51CDCCB6F8}"/>
              </a:ext>
            </a:extLst>
          </p:cNvPr>
          <p:cNvSpPr txBox="1"/>
          <p:nvPr/>
        </p:nvSpPr>
        <p:spPr>
          <a:xfrm>
            <a:off x="2565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1947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3DBAEC-87F3-6F8D-27FF-24510DC9EA86}"/>
              </a:ext>
            </a:extLst>
          </p:cNvPr>
          <p:cNvSpPr/>
          <p:nvPr/>
        </p:nvSpPr>
        <p:spPr>
          <a:xfrm>
            <a:off x="6184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8DAB5E-6D22-0FC9-50D2-9E6A228C0320}"/>
              </a:ext>
            </a:extLst>
          </p:cNvPr>
          <p:cNvSpPr txBox="1"/>
          <p:nvPr/>
        </p:nvSpPr>
        <p:spPr>
          <a:xfrm>
            <a:off x="5740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May 1948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9A4023-A904-6B24-75D6-C74C0A1F134C}"/>
              </a:ext>
            </a:extLst>
          </p:cNvPr>
          <p:cNvSpPr/>
          <p:nvPr/>
        </p:nvSpPr>
        <p:spPr>
          <a:xfrm>
            <a:off x="9486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756BF7-1747-3AF6-15A7-4A52ED62C64C}"/>
              </a:ext>
            </a:extLst>
          </p:cNvPr>
          <p:cNvSpPr txBox="1"/>
          <p:nvPr/>
        </p:nvSpPr>
        <p:spPr>
          <a:xfrm>
            <a:off x="9042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1948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E01F2B-EFC8-A187-6D03-3EF498C3E573}"/>
              </a:ext>
            </a:extLst>
          </p:cNvPr>
          <p:cNvSpPr/>
          <p:nvPr/>
        </p:nvSpPr>
        <p:spPr>
          <a:xfrm>
            <a:off x="12661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5780A4-D319-9445-D908-D191DF5A8A59}"/>
              </a:ext>
            </a:extLst>
          </p:cNvPr>
          <p:cNvSpPr txBox="1"/>
          <p:nvPr/>
        </p:nvSpPr>
        <p:spPr>
          <a:xfrm>
            <a:off x="12217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8B4EB2-90C0-089A-18B4-96AA3C1EC77B}"/>
              </a:ext>
            </a:extLst>
          </p:cNvPr>
          <p:cNvSpPr txBox="1"/>
          <p:nvPr/>
        </p:nvSpPr>
        <p:spPr>
          <a:xfrm>
            <a:off x="762000" y="8255000"/>
            <a:ext cx="914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>
                <a:solidFill>
                  <a:srgbClr val="B8C7D9"/>
                </a:solidFill>
                <a:latin typeface="Aptos" panose="020F0502020204030204" pitchFamily="34" charset="0"/>
              </a:rPr>
              <a:t>The armistice lines become known as the Green Line</a:t>
            </a:r>
          </a:p>
        </p:txBody>
      </p:sp>
    </p:spTree>
    <p:extLst>
      <p:ext uri="{BB962C8B-B14F-4D97-AF65-F5344CB8AC3E}">
        <p14:creationId xmlns:p14="http://schemas.microsoft.com/office/powerpoint/2010/main" val="3970053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5338F6-0C58-84EF-8E59-F98268FE4BE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11B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111B26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6F565-EE16-2CE9-0BDA-20F815BC64D2}"/>
              </a:ext>
            </a:extLst>
          </p:cNvPr>
          <p:cNvSpPr txBox="1"/>
          <p:nvPr/>
        </p:nvSpPr>
        <p:spPr>
          <a:xfrm>
            <a:off x="889000" y="889000"/>
            <a:ext cx="5080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4200" b="1">
                <a:solidFill>
                  <a:srgbClr val="D6B45C"/>
                </a:solidFill>
                <a:latin typeface="Aptos" panose="020F0502020204030204" pitchFamily="34" charset="0"/>
              </a:rPr>
              <a:t>Legacy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411B89-C4B0-C5B7-62A7-2E7999B5B7AB}"/>
              </a:ext>
            </a:extLst>
          </p:cNvPr>
          <p:cNvSpPr txBox="1"/>
          <p:nvPr/>
        </p:nvSpPr>
        <p:spPr>
          <a:xfrm>
            <a:off x="889000" y="1841500"/>
            <a:ext cx="11430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000">
                <a:solidFill>
                  <a:srgbClr val="FFFFFF"/>
                </a:solidFill>
                <a:latin typeface="Aptos" panose="020F0502020204030204" pitchFamily="34" charset="0"/>
              </a:rPr>
              <a:t>For Israelis, the war marks independence and statehood. For Palestinians, it is remembered as the Nakba, with mass displacement and loss.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F888F2-754A-E3F8-6F4B-37D63B68FAF6}"/>
              </a:ext>
            </a:extLst>
          </p:cNvPr>
          <p:cNvSpPr/>
          <p:nvPr/>
        </p:nvSpPr>
        <p:spPr>
          <a:xfrm>
            <a:off x="1397000" y="4318000"/>
            <a:ext cx="5969000" cy="1524000"/>
          </a:xfrm>
          <a:prstGeom prst="rect">
            <a:avLst/>
          </a:prstGeom>
          <a:solidFill>
            <a:srgbClr val="26394D"/>
          </a:solidFill>
          <a:ln>
            <a:solidFill>
              <a:srgbClr val="5B78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39DABB-1FD3-AF68-A029-53E5D1E4450B}"/>
              </a:ext>
            </a:extLst>
          </p:cNvPr>
          <p:cNvSpPr txBox="1"/>
          <p:nvPr/>
        </p:nvSpPr>
        <p:spPr>
          <a:xfrm>
            <a:off x="1841500" y="4826000"/>
            <a:ext cx="5080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E8EEF5"/>
                </a:solidFill>
                <a:latin typeface="Aptos" panose="020F0502020204030204" pitchFamily="34" charset="0"/>
              </a:rPr>
              <a:t>A new state is established.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1A77BE-AFA5-F8D4-5A17-1A500CA7F6B1}"/>
              </a:ext>
            </a:extLst>
          </p:cNvPr>
          <p:cNvSpPr/>
          <p:nvPr/>
        </p:nvSpPr>
        <p:spPr>
          <a:xfrm>
            <a:off x="8890000" y="4318000"/>
            <a:ext cx="5969000" cy="1524000"/>
          </a:xfrm>
          <a:prstGeom prst="rect">
            <a:avLst/>
          </a:prstGeom>
          <a:solidFill>
            <a:srgbClr val="26394D"/>
          </a:solidFill>
          <a:ln>
            <a:solidFill>
              <a:srgbClr val="5B78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C9ABEB-74EF-EA5C-A071-19A5FB800D40}"/>
              </a:ext>
            </a:extLst>
          </p:cNvPr>
          <p:cNvSpPr txBox="1"/>
          <p:nvPr/>
        </p:nvSpPr>
        <p:spPr>
          <a:xfrm>
            <a:off x="9334500" y="4826000"/>
            <a:ext cx="4953000" cy="8309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E8EEF5"/>
                </a:solidFill>
                <a:latin typeface="Aptos" panose="020F0502020204030204" pitchFamily="34" charset="0"/>
              </a:rPr>
              <a:t>A refugee crisis reshapes the region.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2466D1-A8FF-5347-C342-AFDBBF56D006}"/>
              </a:ext>
            </a:extLst>
          </p:cNvPr>
          <p:cNvCxnSpPr/>
          <p:nvPr/>
        </p:nvCxnSpPr>
        <p:spPr>
          <a:xfrm>
            <a:off x="3175000" y="7493000"/>
            <a:ext cx="9652000" cy="0"/>
          </a:xfrm>
          <a:prstGeom prst="line">
            <a:avLst/>
          </a:prstGeom>
          <a:ln w="63500">
            <a:solidFill>
              <a:srgbClr val="6E7F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FB729DF-C787-5FEC-888F-1A2639E52B4B}"/>
              </a:ext>
            </a:extLst>
          </p:cNvPr>
          <p:cNvSpPr/>
          <p:nvPr/>
        </p:nvSpPr>
        <p:spPr>
          <a:xfrm>
            <a:off x="3009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D74DC5-A664-496D-042F-CD837F8FE85E}"/>
              </a:ext>
            </a:extLst>
          </p:cNvPr>
          <p:cNvSpPr txBox="1"/>
          <p:nvPr/>
        </p:nvSpPr>
        <p:spPr>
          <a:xfrm>
            <a:off x="2565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1947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C9021B-CBDF-D3FE-007B-05189B904231}"/>
              </a:ext>
            </a:extLst>
          </p:cNvPr>
          <p:cNvSpPr/>
          <p:nvPr/>
        </p:nvSpPr>
        <p:spPr>
          <a:xfrm>
            <a:off x="6184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43F46-0809-32F7-159E-B7ABD9FCEAAD}"/>
              </a:ext>
            </a:extLst>
          </p:cNvPr>
          <p:cNvSpPr txBox="1"/>
          <p:nvPr/>
        </p:nvSpPr>
        <p:spPr>
          <a:xfrm>
            <a:off x="5740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May 1948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2DEBC6-3B40-ABBC-4ECB-781ABA1335ED}"/>
              </a:ext>
            </a:extLst>
          </p:cNvPr>
          <p:cNvSpPr/>
          <p:nvPr/>
        </p:nvSpPr>
        <p:spPr>
          <a:xfrm>
            <a:off x="9486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4F7AEF-D184-B466-340A-FE900DAD9E0A}"/>
              </a:ext>
            </a:extLst>
          </p:cNvPr>
          <p:cNvSpPr txBox="1"/>
          <p:nvPr/>
        </p:nvSpPr>
        <p:spPr>
          <a:xfrm>
            <a:off x="9042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1948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DE0D75-3EBB-C9B2-0176-CF40BC1658C8}"/>
              </a:ext>
            </a:extLst>
          </p:cNvPr>
          <p:cNvSpPr/>
          <p:nvPr/>
        </p:nvSpPr>
        <p:spPr>
          <a:xfrm>
            <a:off x="12661900" y="7327900"/>
            <a:ext cx="330200" cy="330200"/>
          </a:xfrm>
          <a:prstGeom prst="ellipse">
            <a:avLst/>
          </a:prstGeom>
          <a:solidFill>
            <a:srgbClr val="D6B45C"/>
          </a:solidFill>
          <a:ln>
            <a:solidFill>
              <a:srgbClr val="D6B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A15E3E-A72F-5FC5-AF4A-D50160B5721E}"/>
              </a:ext>
            </a:extLst>
          </p:cNvPr>
          <p:cNvSpPr txBox="1"/>
          <p:nvPr/>
        </p:nvSpPr>
        <p:spPr>
          <a:xfrm>
            <a:off x="12217400" y="7810500"/>
            <a:ext cx="1270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b="1">
                <a:solidFill>
                  <a:srgbClr val="E8EEF5"/>
                </a:solidFill>
                <a:latin typeface="Aptos" panose="020F0502020204030204" pitchFamily="34" charset="0"/>
              </a:rPr>
              <a:t>1949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6B119B-F8AE-3BFC-A4AE-F25E7BA6A6F7}"/>
              </a:ext>
            </a:extLst>
          </p:cNvPr>
          <p:cNvSpPr txBox="1"/>
          <p:nvPr/>
        </p:nvSpPr>
        <p:spPr>
          <a:xfrm>
            <a:off x="762000" y="8255000"/>
            <a:ext cx="914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>
                <a:solidFill>
                  <a:srgbClr val="B8C7D9"/>
                </a:solidFill>
                <a:latin typeface="Aptos" panose="020F0502020204030204" pitchFamily="34" charset="0"/>
              </a:rPr>
              <a:t>The conflict's consequences continue to influence the region</a:t>
            </a:r>
          </a:p>
        </p:txBody>
      </p:sp>
    </p:spTree>
    <p:extLst>
      <p:ext uri="{BB962C8B-B14F-4D97-AF65-F5344CB8AC3E}">
        <p14:creationId xmlns:p14="http://schemas.microsoft.com/office/powerpoint/2010/main" val="1830597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Custom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Ronen Dotan</dc:creator>
  <cp:lastModifiedBy>Ronen Dotan</cp:lastModifiedBy>
  <cp:revision>1</cp:revision>
  <dcterms:created xsi:type="dcterms:W3CDTF">2026-06-08T21:21:36Z</dcterms:created>
  <dcterms:modified xsi:type="dcterms:W3CDTF">2026-06-08T21:21:36Z</dcterms:modified>
</cp:coreProperties>
</file>